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4" r:id="rId6"/>
    <p:sldId id="260" r:id="rId7"/>
    <p:sldId id="265" r:id="rId8"/>
    <p:sldId id="266" r:id="rId9"/>
    <p:sldId id="267" r:id="rId10"/>
    <p:sldId id="268" r:id="rId11"/>
    <p:sldId id="269" r:id="rId12"/>
    <p:sldId id="271" r:id="rId13"/>
    <p:sldId id="272" r:id="rId14"/>
    <p:sldId id="270" r:id="rId15"/>
    <p:sldId id="273" r:id="rId16"/>
    <p:sldId id="261" r:id="rId17"/>
    <p:sldId id="262" r:id="rId18"/>
    <p:sldId id="26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87D1D-827A-B960-ACC3-0096D02FF7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1ED69F-462D-59CD-8C3A-29CC7AF8BD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DFC854-23BA-4C5A-F2D7-D5A1FB0D69C5}"/>
              </a:ext>
            </a:extLst>
          </p:cNvPr>
          <p:cNvSpPr>
            <a:spLocks noGrp="1"/>
          </p:cNvSpPr>
          <p:nvPr>
            <p:ph type="dt" sz="half" idx="10"/>
          </p:nvPr>
        </p:nvSpPr>
        <p:spPr/>
        <p:txBody>
          <a:bodyPr/>
          <a:lstStyle/>
          <a:p>
            <a:fld id="{63F2C280-F77D-4A2D-BCFF-081E0101C049}" type="datetimeFigureOut">
              <a:rPr lang="en-US" smtClean="0"/>
              <a:t>3/1/2026</a:t>
            </a:fld>
            <a:endParaRPr lang="en-US"/>
          </a:p>
        </p:txBody>
      </p:sp>
      <p:sp>
        <p:nvSpPr>
          <p:cNvPr id="5" name="Footer Placeholder 4">
            <a:extLst>
              <a:ext uri="{FF2B5EF4-FFF2-40B4-BE49-F238E27FC236}">
                <a16:creationId xmlns:a16="http://schemas.microsoft.com/office/drawing/2014/main" id="{C29686E2-37AA-3FBD-24D4-1AFF290309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3F03C4-9904-41B1-0292-CAAB6CB8B507}"/>
              </a:ext>
            </a:extLst>
          </p:cNvPr>
          <p:cNvSpPr>
            <a:spLocks noGrp="1"/>
          </p:cNvSpPr>
          <p:nvPr>
            <p:ph type="sldNum" sz="quarter" idx="12"/>
          </p:nvPr>
        </p:nvSpPr>
        <p:spPr/>
        <p:txBody>
          <a:bodyPr/>
          <a:lstStyle/>
          <a:p>
            <a:fld id="{1F40EC89-FA0B-4340-A967-43209562B0D1}" type="slidenum">
              <a:rPr lang="en-US" smtClean="0"/>
              <a:t>‹#›</a:t>
            </a:fld>
            <a:endParaRPr lang="en-US"/>
          </a:p>
        </p:txBody>
      </p:sp>
    </p:spTree>
    <p:extLst>
      <p:ext uri="{BB962C8B-B14F-4D97-AF65-F5344CB8AC3E}">
        <p14:creationId xmlns:p14="http://schemas.microsoft.com/office/powerpoint/2010/main" val="3517798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11C79-1B13-0092-C99E-09F5C7A1A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B6E0D5-1983-241B-5052-10C5E31DB4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64A3AC-85B0-3ADE-2326-20FDA77D0E5A}"/>
              </a:ext>
            </a:extLst>
          </p:cNvPr>
          <p:cNvSpPr>
            <a:spLocks noGrp="1"/>
          </p:cNvSpPr>
          <p:nvPr>
            <p:ph type="dt" sz="half" idx="10"/>
          </p:nvPr>
        </p:nvSpPr>
        <p:spPr/>
        <p:txBody>
          <a:bodyPr/>
          <a:lstStyle/>
          <a:p>
            <a:fld id="{63F2C280-F77D-4A2D-BCFF-081E0101C049}" type="datetimeFigureOut">
              <a:rPr lang="en-US" smtClean="0"/>
              <a:t>3/1/2026</a:t>
            </a:fld>
            <a:endParaRPr lang="en-US"/>
          </a:p>
        </p:txBody>
      </p:sp>
      <p:sp>
        <p:nvSpPr>
          <p:cNvPr id="5" name="Footer Placeholder 4">
            <a:extLst>
              <a:ext uri="{FF2B5EF4-FFF2-40B4-BE49-F238E27FC236}">
                <a16:creationId xmlns:a16="http://schemas.microsoft.com/office/drawing/2014/main" id="{CB32B854-3E5F-24AB-01C4-D838C20216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6605F6-4CB4-5527-485E-549ACD05E494}"/>
              </a:ext>
            </a:extLst>
          </p:cNvPr>
          <p:cNvSpPr>
            <a:spLocks noGrp="1"/>
          </p:cNvSpPr>
          <p:nvPr>
            <p:ph type="sldNum" sz="quarter" idx="12"/>
          </p:nvPr>
        </p:nvSpPr>
        <p:spPr/>
        <p:txBody>
          <a:bodyPr/>
          <a:lstStyle/>
          <a:p>
            <a:fld id="{1F40EC89-FA0B-4340-A967-43209562B0D1}" type="slidenum">
              <a:rPr lang="en-US" smtClean="0"/>
              <a:t>‹#›</a:t>
            </a:fld>
            <a:endParaRPr lang="en-US"/>
          </a:p>
        </p:txBody>
      </p:sp>
    </p:spTree>
    <p:extLst>
      <p:ext uri="{BB962C8B-B14F-4D97-AF65-F5344CB8AC3E}">
        <p14:creationId xmlns:p14="http://schemas.microsoft.com/office/powerpoint/2010/main" val="3692069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56CD4-36FD-009C-628F-AD933F43F3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203953-96EF-1903-E4DA-6B5DF6E11B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6ED619-059F-64E3-EDE1-A5B4A6914F50}"/>
              </a:ext>
            </a:extLst>
          </p:cNvPr>
          <p:cNvSpPr>
            <a:spLocks noGrp="1"/>
          </p:cNvSpPr>
          <p:nvPr>
            <p:ph type="dt" sz="half" idx="10"/>
          </p:nvPr>
        </p:nvSpPr>
        <p:spPr/>
        <p:txBody>
          <a:bodyPr/>
          <a:lstStyle/>
          <a:p>
            <a:fld id="{63F2C280-F77D-4A2D-BCFF-081E0101C049}" type="datetimeFigureOut">
              <a:rPr lang="en-US" smtClean="0"/>
              <a:t>3/1/2026</a:t>
            </a:fld>
            <a:endParaRPr lang="en-US"/>
          </a:p>
        </p:txBody>
      </p:sp>
      <p:sp>
        <p:nvSpPr>
          <p:cNvPr id="5" name="Footer Placeholder 4">
            <a:extLst>
              <a:ext uri="{FF2B5EF4-FFF2-40B4-BE49-F238E27FC236}">
                <a16:creationId xmlns:a16="http://schemas.microsoft.com/office/drawing/2014/main" id="{1C275FCD-9C3B-2CD6-F837-FE0EC3A6DF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D26E4C-5D70-6EC6-2DE6-080B11F35DCA}"/>
              </a:ext>
            </a:extLst>
          </p:cNvPr>
          <p:cNvSpPr>
            <a:spLocks noGrp="1"/>
          </p:cNvSpPr>
          <p:nvPr>
            <p:ph type="sldNum" sz="quarter" idx="12"/>
          </p:nvPr>
        </p:nvSpPr>
        <p:spPr/>
        <p:txBody>
          <a:bodyPr/>
          <a:lstStyle/>
          <a:p>
            <a:fld id="{1F40EC89-FA0B-4340-A967-43209562B0D1}" type="slidenum">
              <a:rPr lang="en-US" smtClean="0"/>
              <a:t>‹#›</a:t>
            </a:fld>
            <a:endParaRPr lang="en-US"/>
          </a:p>
        </p:txBody>
      </p:sp>
    </p:spTree>
    <p:extLst>
      <p:ext uri="{BB962C8B-B14F-4D97-AF65-F5344CB8AC3E}">
        <p14:creationId xmlns:p14="http://schemas.microsoft.com/office/powerpoint/2010/main" val="2721204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32589-5568-14D9-F593-E50569274D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CF76C9-F763-BEDF-6849-DD18442B30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E35572-5A39-53DB-9D7E-BE443AF376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5DC502-C71F-A981-50F6-FB2E9740358B}"/>
              </a:ext>
            </a:extLst>
          </p:cNvPr>
          <p:cNvSpPr>
            <a:spLocks noGrp="1"/>
          </p:cNvSpPr>
          <p:nvPr>
            <p:ph type="dt" sz="half" idx="10"/>
          </p:nvPr>
        </p:nvSpPr>
        <p:spPr/>
        <p:txBody>
          <a:bodyPr/>
          <a:lstStyle/>
          <a:p>
            <a:fld id="{63F2C280-F77D-4A2D-BCFF-081E0101C049}" type="datetimeFigureOut">
              <a:rPr lang="en-US" smtClean="0"/>
              <a:t>3/1/2026</a:t>
            </a:fld>
            <a:endParaRPr lang="en-US"/>
          </a:p>
        </p:txBody>
      </p:sp>
      <p:sp>
        <p:nvSpPr>
          <p:cNvPr id="6" name="Footer Placeholder 5">
            <a:extLst>
              <a:ext uri="{FF2B5EF4-FFF2-40B4-BE49-F238E27FC236}">
                <a16:creationId xmlns:a16="http://schemas.microsoft.com/office/drawing/2014/main" id="{38E1D2B9-E625-D062-52D4-D110CDD94C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AB6B28-B8F1-B9DC-B339-718D0515105C}"/>
              </a:ext>
            </a:extLst>
          </p:cNvPr>
          <p:cNvSpPr>
            <a:spLocks noGrp="1"/>
          </p:cNvSpPr>
          <p:nvPr>
            <p:ph type="sldNum" sz="quarter" idx="12"/>
          </p:nvPr>
        </p:nvSpPr>
        <p:spPr/>
        <p:txBody>
          <a:bodyPr/>
          <a:lstStyle/>
          <a:p>
            <a:fld id="{1F40EC89-FA0B-4340-A967-43209562B0D1}" type="slidenum">
              <a:rPr lang="en-US" smtClean="0"/>
              <a:t>‹#›</a:t>
            </a:fld>
            <a:endParaRPr lang="en-US"/>
          </a:p>
        </p:txBody>
      </p:sp>
    </p:spTree>
    <p:extLst>
      <p:ext uri="{BB962C8B-B14F-4D97-AF65-F5344CB8AC3E}">
        <p14:creationId xmlns:p14="http://schemas.microsoft.com/office/powerpoint/2010/main" val="910386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A5B41-5862-CE97-904B-9E74CBBE3E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6EA6C1-505A-BA95-0A13-0F6E7A3902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D5C539-53BB-B574-445B-073D38D17C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BD30D5-3B44-74BD-E570-4A44676B41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2A895D-6CA7-E67B-C34B-BF11238DEB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73746D-CC9E-F7E9-44C9-EFAF8D315119}"/>
              </a:ext>
            </a:extLst>
          </p:cNvPr>
          <p:cNvSpPr>
            <a:spLocks noGrp="1"/>
          </p:cNvSpPr>
          <p:nvPr>
            <p:ph type="dt" sz="half" idx="10"/>
          </p:nvPr>
        </p:nvSpPr>
        <p:spPr/>
        <p:txBody>
          <a:bodyPr/>
          <a:lstStyle/>
          <a:p>
            <a:fld id="{63F2C280-F77D-4A2D-BCFF-081E0101C049}" type="datetimeFigureOut">
              <a:rPr lang="en-US" smtClean="0"/>
              <a:t>3/1/2026</a:t>
            </a:fld>
            <a:endParaRPr lang="en-US"/>
          </a:p>
        </p:txBody>
      </p:sp>
      <p:sp>
        <p:nvSpPr>
          <p:cNvPr id="8" name="Footer Placeholder 7">
            <a:extLst>
              <a:ext uri="{FF2B5EF4-FFF2-40B4-BE49-F238E27FC236}">
                <a16:creationId xmlns:a16="http://schemas.microsoft.com/office/drawing/2014/main" id="{860A1030-C704-9FD1-3EBF-CAB9A4F89D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0C81EE-080A-4227-9103-DBA50A222872}"/>
              </a:ext>
            </a:extLst>
          </p:cNvPr>
          <p:cNvSpPr>
            <a:spLocks noGrp="1"/>
          </p:cNvSpPr>
          <p:nvPr>
            <p:ph type="sldNum" sz="quarter" idx="12"/>
          </p:nvPr>
        </p:nvSpPr>
        <p:spPr/>
        <p:txBody>
          <a:bodyPr/>
          <a:lstStyle/>
          <a:p>
            <a:fld id="{1F40EC89-FA0B-4340-A967-43209562B0D1}" type="slidenum">
              <a:rPr lang="en-US" smtClean="0"/>
              <a:t>‹#›</a:t>
            </a:fld>
            <a:endParaRPr lang="en-US"/>
          </a:p>
        </p:txBody>
      </p:sp>
    </p:spTree>
    <p:extLst>
      <p:ext uri="{BB962C8B-B14F-4D97-AF65-F5344CB8AC3E}">
        <p14:creationId xmlns:p14="http://schemas.microsoft.com/office/powerpoint/2010/main" val="4077082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46B3A-99C0-1E40-E9AB-0BC56236EB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04110B-69CB-5BBF-689B-AF2E599F7C3E}"/>
              </a:ext>
            </a:extLst>
          </p:cNvPr>
          <p:cNvSpPr>
            <a:spLocks noGrp="1"/>
          </p:cNvSpPr>
          <p:nvPr>
            <p:ph type="dt" sz="half" idx="10"/>
          </p:nvPr>
        </p:nvSpPr>
        <p:spPr/>
        <p:txBody>
          <a:bodyPr/>
          <a:lstStyle/>
          <a:p>
            <a:fld id="{63F2C280-F77D-4A2D-BCFF-081E0101C049}" type="datetimeFigureOut">
              <a:rPr lang="en-US" smtClean="0"/>
              <a:t>3/1/2026</a:t>
            </a:fld>
            <a:endParaRPr lang="en-US"/>
          </a:p>
        </p:txBody>
      </p:sp>
      <p:sp>
        <p:nvSpPr>
          <p:cNvPr id="4" name="Footer Placeholder 3">
            <a:extLst>
              <a:ext uri="{FF2B5EF4-FFF2-40B4-BE49-F238E27FC236}">
                <a16:creationId xmlns:a16="http://schemas.microsoft.com/office/drawing/2014/main" id="{68D1DAAC-6308-7545-E590-DDF215EE4C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F1EA83-B543-58A8-C263-5137206AF86B}"/>
              </a:ext>
            </a:extLst>
          </p:cNvPr>
          <p:cNvSpPr>
            <a:spLocks noGrp="1"/>
          </p:cNvSpPr>
          <p:nvPr>
            <p:ph type="sldNum" sz="quarter" idx="12"/>
          </p:nvPr>
        </p:nvSpPr>
        <p:spPr/>
        <p:txBody>
          <a:bodyPr/>
          <a:lstStyle/>
          <a:p>
            <a:fld id="{1F40EC89-FA0B-4340-A967-43209562B0D1}" type="slidenum">
              <a:rPr lang="en-US" smtClean="0"/>
              <a:t>‹#›</a:t>
            </a:fld>
            <a:endParaRPr lang="en-US"/>
          </a:p>
        </p:txBody>
      </p:sp>
    </p:spTree>
    <p:extLst>
      <p:ext uri="{BB962C8B-B14F-4D97-AF65-F5344CB8AC3E}">
        <p14:creationId xmlns:p14="http://schemas.microsoft.com/office/powerpoint/2010/main" val="1107877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EFABCC-7041-BA32-1C9F-3D7309EA51FB}"/>
              </a:ext>
            </a:extLst>
          </p:cNvPr>
          <p:cNvSpPr>
            <a:spLocks noGrp="1"/>
          </p:cNvSpPr>
          <p:nvPr>
            <p:ph type="dt" sz="half" idx="10"/>
          </p:nvPr>
        </p:nvSpPr>
        <p:spPr/>
        <p:txBody>
          <a:bodyPr/>
          <a:lstStyle/>
          <a:p>
            <a:fld id="{63F2C280-F77D-4A2D-BCFF-081E0101C049}" type="datetimeFigureOut">
              <a:rPr lang="en-US" smtClean="0"/>
              <a:t>3/1/2026</a:t>
            </a:fld>
            <a:endParaRPr lang="en-US"/>
          </a:p>
        </p:txBody>
      </p:sp>
      <p:sp>
        <p:nvSpPr>
          <p:cNvPr id="3" name="Footer Placeholder 2">
            <a:extLst>
              <a:ext uri="{FF2B5EF4-FFF2-40B4-BE49-F238E27FC236}">
                <a16:creationId xmlns:a16="http://schemas.microsoft.com/office/drawing/2014/main" id="{2D147CD4-525A-322C-98E1-CDD5A2376B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EE0E45-CA3B-AF35-EB74-218B2B791D35}"/>
              </a:ext>
            </a:extLst>
          </p:cNvPr>
          <p:cNvSpPr>
            <a:spLocks noGrp="1"/>
          </p:cNvSpPr>
          <p:nvPr>
            <p:ph type="sldNum" sz="quarter" idx="12"/>
          </p:nvPr>
        </p:nvSpPr>
        <p:spPr/>
        <p:txBody>
          <a:bodyPr/>
          <a:lstStyle/>
          <a:p>
            <a:fld id="{1F40EC89-FA0B-4340-A967-43209562B0D1}" type="slidenum">
              <a:rPr lang="en-US" smtClean="0"/>
              <a:t>‹#›</a:t>
            </a:fld>
            <a:endParaRPr lang="en-US"/>
          </a:p>
        </p:txBody>
      </p:sp>
    </p:spTree>
    <p:extLst>
      <p:ext uri="{BB962C8B-B14F-4D97-AF65-F5344CB8AC3E}">
        <p14:creationId xmlns:p14="http://schemas.microsoft.com/office/powerpoint/2010/main" val="1648886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D38E8-F4AB-EFD4-B5EB-D39DC1897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29370F-0ECB-859D-2222-27EC21A5CE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B4F5B4-6A24-5262-29EE-D892FFD1A1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5924A8-C071-2DEE-242B-4A98C07FEBFB}"/>
              </a:ext>
            </a:extLst>
          </p:cNvPr>
          <p:cNvSpPr>
            <a:spLocks noGrp="1"/>
          </p:cNvSpPr>
          <p:nvPr>
            <p:ph type="dt" sz="half" idx="10"/>
          </p:nvPr>
        </p:nvSpPr>
        <p:spPr/>
        <p:txBody>
          <a:bodyPr/>
          <a:lstStyle/>
          <a:p>
            <a:fld id="{63F2C280-F77D-4A2D-BCFF-081E0101C049}" type="datetimeFigureOut">
              <a:rPr lang="en-US" smtClean="0"/>
              <a:t>3/1/2026</a:t>
            </a:fld>
            <a:endParaRPr lang="en-US"/>
          </a:p>
        </p:txBody>
      </p:sp>
      <p:sp>
        <p:nvSpPr>
          <p:cNvPr id="6" name="Footer Placeholder 5">
            <a:extLst>
              <a:ext uri="{FF2B5EF4-FFF2-40B4-BE49-F238E27FC236}">
                <a16:creationId xmlns:a16="http://schemas.microsoft.com/office/drawing/2014/main" id="{AF98B3F4-7EB8-CF83-41D9-21B0797EE8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DC4AFA-ACFF-F23A-70B6-746F240455A1}"/>
              </a:ext>
            </a:extLst>
          </p:cNvPr>
          <p:cNvSpPr>
            <a:spLocks noGrp="1"/>
          </p:cNvSpPr>
          <p:nvPr>
            <p:ph type="sldNum" sz="quarter" idx="12"/>
          </p:nvPr>
        </p:nvSpPr>
        <p:spPr/>
        <p:txBody>
          <a:bodyPr/>
          <a:lstStyle/>
          <a:p>
            <a:fld id="{1F40EC89-FA0B-4340-A967-43209562B0D1}" type="slidenum">
              <a:rPr lang="en-US" smtClean="0"/>
              <a:t>‹#›</a:t>
            </a:fld>
            <a:endParaRPr lang="en-US"/>
          </a:p>
        </p:txBody>
      </p:sp>
    </p:spTree>
    <p:extLst>
      <p:ext uri="{BB962C8B-B14F-4D97-AF65-F5344CB8AC3E}">
        <p14:creationId xmlns:p14="http://schemas.microsoft.com/office/powerpoint/2010/main" val="2113050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B2020-F1AB-6D34-7788-247096E08F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3964B57-4708-F213-33B0-C53C738F82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4C9D1A-4786-76B4-B2B6-74F5FA2F83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FEE146-7B2E-2D2A-81E0-FAE8AA6F68F6}"/>
              </a:ext>
            </a:extLst>
          </p:cNvPr>
          <p:cNvSpPr>
            <a:spLocks noGrp="1"/>
          </p:cNvSpPr>
          <p:nvPr>
            <p:ph type="dt" sz="half" idx="10"/>
          </p:nvPr>
        </p:nvSpPr>
        <p:spPr/>
        <p:txBody>
          <a:bodyPr/>
          <a:lstStyle/>
          <a:p>
            <a:fld id="{63F2C280-F77D-4A2D-BCFF-081E0101C049}" type="datetimeFigureOut">
              <a:rPr lang="en-US" smtClean="0"/>
              <a:t>3/1/2026</a:t>
            </a:fld>
            <a:endParaRPr lang="en-US"/>
          </a:p>
        </p:txBody>
      </p:sp>
      <p:sp>
        <p:nvSpPr>
          <p:cNvPr id="6" name="Footer Placeholder 5">
            <a:extLst>
              <a:ext uri="{FF2B5EF4-FFF2-40B4-BE49-F238E27FC236}">
                <a16:creationId xmlns:a16="http://schemas.microsoft.com/office/drawing/2014/main" id="{19565866-33EE-155A-A9B1-7A11E8F71B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55D37A-9F43-6751-64CB-DF5B047B0C38}"/>
              </a:ext>
            </a:extLst>
          </p:cNvPr>
          <p:cNvSpPr>
            <a:spLocks noGrp="1"/>
          </p:cNvSpPr>
          <p:nvPr>
            <p:ph type="sldNum" sz="quarter" idx="12"/>
          </p:nvPr>
        </p:nvSpPr>
        <p:spPr/>
        <p:txBody>
          <a:bodyPr/>
          <a:lstStyle/>
          <a:p>
            <a:fld id="{1F40EC89-FA0B-4340-A967-43209562B0D1}" type="slidenum">
              <a:rPr lang="en-US" smtClean="0"/>
              <a:t>‹#›</a:t>
            </a:fld>
            <a:endParaRPr lang="en-US"/>
          </a:p>
        </p:txBody>
      </p:sp>
    </p:spTree>
    <p:extLst>
      <p:ext uri="{BB962C8B-B14F-4D97-AF65-F5344CB8AC3E}">
        <p14:creationId xmlns:p14="http://schemas.microsoft.com/office/powerpoint/2010/main" val="3132878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88FC7-D724-BC03-EA57-51EDDC4B64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62647A-8889-40FB-A986-8E8B403235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648A7-9450-0414-6DFC-DF9B0DDBC992}"/>
              </a:ext>
            </a:extLst>
          </p:cNvPr>
          <p:cNvSpPr>
            <a:spLocks noGrp="1"/>
          </p:cNvSpPr>
          <p:nvPr>
            <p:ph type="dt" sz="half" idx="10"/>
          </p:nvPr>
        </p:nvSpPr>
        <p:spPr/>
        <p:txBody>
          <a:bodyPr/>
          <a:lstStyle/>
          <a:p>
            <a:fld id="{63F2C280-F77D-4A2D-BCFF-081E0101C049}" type="datetimeFigureOut">
              <a:rPr lang="en-US" smtClean="0"/>
              <a:t>3/1/2026</a:t>
            </a:fld>
            <a:endParaRPr lang="en-US"/>
          </a:p>
        </p:txBody>
      </p:sp>
      <p:sp>
        <p:nvSpPr>
          <p:cNvPr id="5" name="Footer Placeholder 4">
            <a:extLst>
              <a:ext uri="{FF2B5EF4-FFF2-40B4-BE49-F238E27FC236}">
                <a16:creationId xmlns:a16="http://schemas.microsoft.com/office/drawing/2014/main" id="{F51AEBE0-7684-D384-F3F9-8AD17679A1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B9A3CC-8A26-9322-5D26-83CD221CB8A0}"/>
              </a:ext>
            </a:extLst>
          </p:cNvPr>
          <p:cNvSpPr>
            <a:spLocks noGrp="1"/>
          </p:cNvSpPr>
          <p:nvPr>
            <p:ph type="sldNum" sz="quarter" idx="12"/>
          </p:nvPr>
        </p:nvSpPr>
        <p:spPr/>
        <p:txBody>
          <a:bodyPr/>
          <a:lstStyle/>
          <a:p>
            <a:fld id="{1F40EC89-FA0B-4340-A967-43209562B0D1}" type="slidenum">
              <a:rPr lang="en-US" smtClean="0"/>
              <a:t>‹#›</a:t>
            </a:fld>
            <a:endParaRPr lang="en-US"/>
          </a:p>
        </p:txBody>
      </p:sp>
    </p:spTree>
    <p:extLst>
      <p:ext uri="{BB962C8B-B14F-4D97-AF65-F5344CB8AC3E}">
        <p14:creationId xmlns:p14="http://schemas.microsoft.com/office/powerpoint/2010/main" val="1991065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0CFF56-5FD6-400B-2AC1-56620719BE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9D5409-D49F-2330-5DDE-3925F80E0C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EDD5E2-7D8F-0F86-8B41-5C9D9BD1FAFC}"/>
              </a:ext>
            </a:extLst>
          </p:cNvPr>
          <p:cNvSpPr>
            <a:spLocks noGrp="1"/>
          </p:cNvSpPr>
          <p:nvPr>
            <p:ph type="dt" sz="half" idx="10"/>
          </p:nvPr>
        </p:nvSpPr>
        <p:spPr/>
        <p:txBody>
          <a:bodyPr/>
          <a:lstStyle/>
          <a:p>
            <a:fld id="{63F2C280-F77D-4A2D-BCFF-081E0101C049}" type="datetimeFigureOut">
              <a:rPr lang="en-US" smtClean="0"/>
              <a:t>3/1/2026</a:t>
            </a:fld>
            <a:endParaRPr lang="en-US"/>
          </a:p>
        </p:txBody>
      </p:sp>
      <p:sp>
        <p:nvSpPr>
          <p:cNvPr id="5" name="Footer Placeholder 4">
            <a:extLst>
              <a:ext uri="{FF2B5EF4-FFF2-40B4-BE49-F238E27FC236}">
                <a16:creationId xmlns:a16="http://schemas.microsoft.com/office/drawing/2014/main" id="{9815BC10-24A5-AD07-9B23-490511FAEF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6585E0-0113-EE00-158E-A4384B8157F6}"/>
              </a:ext>
            </a:extLst>
          </p:cNvPr>
          <p:cNvSpPr>
            <a:spLocks noGrp="1"/>
          </p:cNvSpPr>
          <p:nvPr>
            <p:ph type="sldNum" sz="quarter" idx="12"/>
          </p:nvPr>
        </p:nvSpPr>
        <p:spPr/>
        <p:txBody>
          <a:bodyPr/>
          <a:lstStyle/>
          <a:p>
            <a:fld id="{1F40EC89-FA0B-4340-A967-43209562B0D1}" type="slidenum">
              <a:rPr lang="en-US" smtClean="0"/>
              <a:t>‹#›</a:t>
            </a:fld>
            <a:endParaRPr lang="en-US"/>
          </a:p>
        </p:txBody>
      </p:sp>
    </p:spTree>
    <p:extLst>
      <p:ext uri="{BB962C8B-B14F-4D97-AF65-F5344CB8AC3E}">
        <p14:creationId xmlns:p14="http://schemas.microsoft.com/office/powerpoint/2010/main" val="3812734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9CCF33-7865-21A9-3231-37EE44C151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AAAD873-51EA-8BE9-4B93-98CFF6CD35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38971A-5241-6607-982F-3DDDD8E243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F2C280-F77D-4A2D-BCFF-081E0101C049}" type="datetimeFigureOut">
              <a:rPr lang="en-US" smtClean="0"/>
              <a:t>3/1/2026</a:t>
            </a:fld>
            <a:endParaRPr lang="en-US"/>
          </a:p>
        </p:txBody>
      </p:sp>
      <p:sp>
        <p:nvSpPr>
          <p:cNvPr id="5" name="Footer Placeholder 4">
            <a:extLst>
              <a:ext uri="{FF2B5EF4-FFF2-40B4-BE49-F238E27FC236}">
                <a16:creationId xmlns:a16="http://schemas.microsoft.com/office/drawing/2014/main" id="{B22699A3-C606-0F18-5B24-B799A81939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646DA55-5B33-1701-A32F-6A44474804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40EC89-FA0B-4340-A967-43209562B0D1}" type="slidenum">
              <a:rPr lang="en-US" smtClean="0"/>
              <a:t>‹#›</a:t>
            </a:fld>
            <a:endParaRPr lang="en-US"/>
          </a:p>
        </p:txBody>
      </p:sp>
    </p:spTree>
    <p:extLst>
      <p:ext uri="{BB962C8B-B14F-4D97-AF65-F5344CB8AC3E}">
        <p14:creationId xmlns:p14="http://schemas.microsoft.com/office/powerpoint/2010/main" val="213477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93561-8F1F-5B0F-5F11-D0C2A82936C7}"/>
              </a:ext>
            </a:extLst>
          </p:cNvPr>
          <p:cNvSpPr>
            <a:spLocks noGrp="1"/>
          </p:cNvSpPr>
          <p:nvPr>
            <p:ph type="ctrTitle"/>
          </p:nvPr>
        </p:nvSpPr>
        <p:spPr/>
        <p:txBody>
          <a:bodyPr/>
          <a:lstStyle/>
          <a:p>
            <a:r>
              <a:rPr lang="en-US" dirty="0"/>
              <a:t>STL Neighborhood</a:t>
            </a:r>
            <a:br>
              <a:rPr lang="en-US" dirty="0"/>
            </a:br>
            <a:r>
              <a:rPr lang="en-US" dirty="0"/>
              <a:t>Intelligence Platform</a:t>
            </a:r>
          </a:p>
        </p:txBody>
      </p:sp>
      <p:sp>
        <p:nvSpPr>
          <p:cNvPr id="3" name="Subtitle 2">
            <a:extLst>
              <a:ext uri="{FF2B5EF4-FFF2-40B4-BE49-F238E27FC236}">
                <a16:creationId xmlns:a16="http://schemas.microsoft.com/office/drawing/2014/main" id="{27233CD8-D4DD-475C-815D-63D764376151}"/>
              </a:ext>
            </a:extLst>
          </p:cNvPr>
          <p:cNvSpPr>
            <a:spLocks noGrp="1"/>
          </p:cNvSpPr>
          <p:nvPr>
            <p:ph type="subTitle" idx="1"/>
          </p:nvPr>
        </p:nvSpPr>
        <p:spPr>
          <a:xfrm>
            <a:off x="1524000" y="3602038"/>
            <a:ext cx="9144000" cy="665162"/>
          </a:xfrm>
        </p:spPr>
        <p:txBody>
          <a:bodyPr/>
          <a:lstStyle/>
          <a:p>
            <a:r>
              <a:rPr lang="en-US" dirty="0"/>
              <a:t>Midterm / Final Project Pitch</a:t>
            </a:r>
          </a:p>
          <a:p>
            <a:endParaRPr lang="en-US" dirty="0"/>
          </a:p>
        </p:txBody>
      </p:sp>
    </p:spTree>
    <p:extLst>
      <p:ext uri="{BB962C8B-B14F-4D97-AF65-F5344CB8AC3E}">
        <p14:creationId xmlns:p14="http://schemas.microsoft.com/office/powerpoint/2010/main" val="2781216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10E33-F331-7320-61D1-1053240B529F}"/>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D65DED6C-A298-0277-7244-F2B966F69FC1}"/>
              </a:ext>
            </a:extLst>
          </p:cNvPr>
          <p:cNvSpPr>
            <a:spLocks noGrp="1"/>
          </p:cNvSpPr>
          <p:nvPr>
            <p:ph idx="1"/>
          </p:nvPr>
        </p:nvSpPr>
        <p:spPr/>
        <p:txBody>
          <a:bodyPr/>
          <a:lstStyle/>
          <a:p>
            <a:r>
              <a:rPr lang="en-US" dirty="0"/>
              <a:t>MISSION STATEMENT: Connect varies datasets and create a unified platform that houses information on the multitude of St. Louis’s designated neighborhoods for use by current residents, would-be residence, planners, investors, etc. </a:t>
            </a:r>
          </a:p>
        </p:txBody>
      </p:sp>
    </p:spTree>
    <p:extLst>
      <p:ext uri="{BB962C8B-B14F-4D97-AF65-F5344CB8AC3E}">
        <p14:creationId xmlns:p14="http://schemas.microsoft.com/office/powerpoint/2010/main" val="3125467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64EDC-5741-64B3-1E82-601B8699E6F6}"/>
              </a:ext>
            </a:extLst>
          </p:cNvPr>
          <p:cNvSpPr>
            <a:spLocks noGrp="1"/>
          </p:cNvSpPr>
          <p:nvPr>
            <p:ph type="title"/>
          </p:nvPr>
        </p:nvSpPr>
        <p:spPr/>
        <p:txBody>
          <a:bodyPr/>
          <a:lstStyle/>
          <a:p>
            <a:r>
              <a:rPr lang="en-US" dirty="0"/>
              <a:t>Business Situation</a:t>
            </a:r>
          </a:p>
        </p:txBody>
      </p:sp>
      <p:sp>
        <p:nvSpPr>
          <p:cNvPr id="3" name="Content Placeholder 2">
            <a:extLst>
              <a:ext uri="{FF2B5EF4-FFF2-40B4-BE49-F238E27FC236}">
                <a16:creationId xmlns:a16="http://schemas.microsoft.com/office/drawing/2014/main" id="{C84BCD0B-8D76-727E-0B27-1C81B176F1B5}"/>
              </a:ext>
            </a:extLst>
          </p:cNvPr>
          <p:cNvSpPr>
            <a:spLocks noGrp="1"/>
          </p:cNvSpPr>
          <p:nvPr>
            <p:ph idx="1"/>
          </p:nvPr>
        </p:nvSpPr>
        <p:spPr/>
        <p:txBody>
          <a:bodyPr/>
          <a:lstStyle/>
          <a:p>
            <a:pPr marL="0" indent="0">
              <a:buNone/>
            </a:pPr>
            <a:r>
              <a:rPr lang="en-US" dirty="0"/>
              <a:t>St. Louis has 79 neighborhoods with dramatically unequal quality of life — from Tower Grove South to North City. Yet decision-makers operate off fragmented, siloed data.</a:t>
            </a:r>
          </a:p>
          <a:p>
            <a:pPr marL="0" indent="0">
              <a:buNone/>
            </a:pPr>
            <a:r>
              <a:rPr lang="en-US" dirty="0"/>
              <a:t>A family choosing where to live manually cross-references Zillow, a transit map, crime PDFs, and a weather app.</a:t>
            </a:r>
          </a:p>
          <a:p>
            <a:pPr marL="0" indent="0">
              <a:buNone/>
            </a:pPr>
            <a:r>
              <a:rPr lang="en-US" dirty="0"/>
              <a:t>A city planner allocating investment has no single </a:t>
            </a:r>
            <a:r>
              <a:rPr lang="en-US" dirty="0" err="1"/>
              <a:t>queryable</a:t>
            </a:r>
            <a:r>
              <a:rPr lang="en-US" dirty="0"/>
              <a:t> source across all neighborhood dimensions.</a:t>
            </a:r>
          </a:p>
          <a:p>
            <a:endParaRPr lang="en-US" dirty="0"/>
          </a:p>
        </p:txBody>
      </p:sp>
    </p:spTree>
    <p:extLst>
      <p:ext uri="{BB962C8B-B14F-4D97-AF65-F5344CB8AC3E}">
        <p14:creationId xmlns:p14="http://schemas.microsoft.com/office/powerpoint/2010/main" val="3272839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56554-86F5-6880-2569-105C18163FCE}"/>
              </a:ext>
            </a:extLst>
          </p:cNvPr>
          <p:cNvSpPr>
            <a:spLocks noGrp="1"/>
          </p:cNvSpPr>
          <p:nvPr>
            <p:ph type="title"/>
          </p:nvPr>
        </p:nvSpPr>
        <p:spPr/>
        <p:txBody>
          <a:bodyPr/>
          <a:lstStyle/>
          <a:p>
            <a:r>
              <a:rPr lang="en-US" dirty="0"/>
              <a:t>Relevant Data Sources </a:t>
            </a:r>
          </a:p>
        </p:txBody>
      </p:sp>
      <p:sp>
        <p:nvSpPr>
          <p:cNvPr id="3" name="Content Placeholder 2">
            <a:extLst>
              <a:ext uri="{FF2B5EF4-FFF2-40B4-BE49-F238E27FC236}">
                <a16:creationId xmlns:a16="http://schemas.microsoft.com/office/drawing/2014/main" id="{86E9CD9D-989F-6F1C-1F1B-C8F7A2E23BF3}"/>
              </a:ext>
            </a:extLst>
          </p:cNvPr>
          <p:cNvSpPr>
            <a:spLocks noGrp="1"/>
          </p:cNvSpPr>
          <p:nvPr>
            <p:ph idx="1"/>
          </p:nvPr>
        </p:nvSpPr>
        <p:spPr/>
        <p:txBody>
          <a:bodyPr>
            <a:normAutofit fontScale="92500" lnSpcReduction="20000"/>
          </a:bodyPr>
          <a:lstStyle/>
          <a:p>
            <a:r>
              <a:rPr lang="en-US" dirty="0"/>
              <a:t>Metro GTFS Data</a:t>
            </a:r>
          </a:p>
          <a:p>
            <a:r>
              <a:rPr lang="en-US" dirty="0"/>
              <a:t>St. Louis Metro Police Department Crime Data</a:t>
            </a:r>
          </a:p>
          <a:p>
            <a:r>
              <a:rPr lang="en-US" dirty="0"/>
              <a:t>Census Data</a:t>
            </a:r>
          </a:p>
          <a:p>
            <a:r>
              <a:rPr lang="en-US" dirty="0"/>
              <a:t>Real Estate Data</a:t>
            </a:r>
          </a:p>
          <a:p>
            <a:r>
              <a:rPr lang="en-US" dirty="0"/>
              <a:t>City Parcel Data</a:t>
            </a:r>
          </a:p>
          <a:p>
            <a:r>
              <a:rPr lang="en-US" dirty="0"/>
              <a:t>Geographic data </a:t>
            </a:r>
          </a:p>
          <a:p>
            <a:pPr lvl="1"/>
            <a:r>
              <a:rPr lang="en-US" dirty="0"/>
              <a:t>(Flood Plains / Sinkholes)</a:t>
            </a:r>
          </a:p>
          <a:p>
            <a:r>
              <a:rPr lang="en-US" dirty="0"/>
              <a:t>Insurances Rate Data</a:t>
            </a:r>
          </a:p>
          <a:p>
            <a:r>
              <a:rPr lang="en-US" dirty="0"/>
              <a:t>School System Data </a:t>
            </a:r>
          </a:p>
          <a:p>
            <a:pPr lvl="1"/>
            <a:r>
              <a:rPr lang="en-US" dirty="0"/>
              <a:t>(# of schools, public/private, student populations, graduation rate, etc.)</a:t>
            </a:r>
          </a:p>
          <a:p>
            <a:r>
              <a:rPr lang="en-US" dirty="0"/>
              <a:t>Auto-Accident Reports</a:t>
            </a:r>
          </a:p>
        </p:txBody>
      </p:sp>
    </p:spTree>
    <p:extLst>
      <p:ext uri="{BB962C8B-B14F-4D97-AF65-F5344CB8AC3E}">
        <p14:creationId xmlns:p14="http://schemas.microsoft.com/office/powerpoint/2010/main" val="4169419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107FA-46E6-66F8-6F34-0F7C750369F6}"/>
              </a:ext>
            </a:extLst>
          </p:cNvPr>
          <p:cNvSpPr>
            <a:spLocks noGrp="1"/>
          </p:cNvSpPr>
          <p:nvPr>
            <p:ph type="title"/>
          </p:nvPr>
        </p:nvSpPr>
        <p:spPr/>
        <p:txBody>
          <a:bodyPr/>
          <a:lstStyle/>
          <a:p>
            <a:r>
              <a:rPr lang="en-US" dirty="0"/>
              <a:t>Why these Data Sources are Important</a:t>
            </a:r>
          </a:p>
        </p:txBody>
      </p:sp>
      <p:sp>
        <p:nvSpPr>
          <p:cNvPr id="3" name="Text Placeholder 2">
            <a:extLst>
              <a:ext uri="{FF2B5EF4-FFF2-40B4-BE49-F238E27FC236}">
                <a16:creationId xmlns:a16="http://schemas.microsoft.com/office/drawing/2014/main" id="{F419A312-DBCC-A3DC-54A7-7472F592475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15396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FDE45-EAD9-BCC7-4E0D-444A8EEBE51C}"/>
              </a:ext>
            </a:extLst>
          </p:cNvPr>
          <p:cNvSpPr>
            <a:spLocks noGrp="1"/>
          </p:cNvSpPr>
          <p:nvPr>
            <p:ph type="title"/>
          </p:nvPr>
        </p:nvSpPr>
        <p:spPr/>
        <p:txBody>
          <a:bodyPr/>
          <a:lstStyle/>
          <a:p>
            <a:r>
              <a:rPr lang="en-US" dirty="0"/>
              <a:t>Metro GTFS Data</a:t>
            </a:r>
          </a:p>
        </p:txBody>
      </p:sp>
      <p:sp>
        <p:nvSpPr>
          <p:cNvPr id="3" name="Content Placeholder 2">
            <a:extLst>
              <a:ext uri="{FF2B5EF4-FFF2-40B4-BE49-F238E27FC236}">
                <a16:creationId xmlns:a16="http://schemas.microsoft.com/office/drawing/2014/main" id="{144C9726-93F4-C224-3BD5-EB611A8A22E6}"/>
              </a:ext>
            </a:extLst>
          </p:cNvPr>
          <p:cNvSpPr>
            <a:spLocks noGrp="1"/>
          </p:cNvSpPr>
          <p:nvPr>
            <p:ph idx="1"/>
          </p:nvPr>
        </p:nvSpPr>
        <p:spPr/>
        <p:txBody>
          <a:bodyPr/>
          <a:lstStyle/>
          <a:p>
            <a:r>
              <a:rPr lang="en-US" dirty="0"/>
              <a:t>A neighborhood's transit access directly determines mobility for residents without cars. A MetroLink stop within walking distance vs. a transit desert is a measurable quality-of-life gap.</a:t>
            </a:r>
          </a:p>
          <a:p>
            <a:r>
              <a:rPr lang="en-US" dirty="0"/>
              <a:t>Enables calculation of real transit scores per neighborhood, not just anecdotal assessments.</a:t>
            </a:r>
          </a:p>
          <a:p>
            <a:r>
              <a:rPr lang="en-US" dirty="0"/>
              <a:t>Captures service reliability over time, revealing which neighborhoods consistently experience delays or route cuts.</a:t>
            </a:r>
          </a:p>
          <a:p>
            <a:endParaRPr lang="en-US" dirty="0"/>
          </a:p>
        </p:txBody>
      </p:sp>
    </p:spTree>
    <p:extLst>
      <p:ext uri="{BB962C8B-B14F-4D97-AF65-F5344CB8AC3E}">
        <p14:creationId xmlns:p14="http://schemas.microsoft.com/office/powerpoint/2010/main" val="292832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26226-B9E1-BFA7-3961-85BF495AEA6C}"/>
              </a:ext>
            </a:extLst>
          </p:cNvPr>
          <p:cNvSpPr>
            <a:spLocks noGrp="1"/>
          </p:cNvSpPr>
          <p:nvPr>
            <p:ph type="title"/>
          </p:nvPr>
        </p:nvSpPr>
        <p:spPr/>
        <p:txBody>
          <a:bodyPr/>
          <a:lstStyle/>
          <a:p>
            <a:r>
              <a:rPr lang="en-US" dirty="0"/>
              <a:t>SLMPD Crime Data</a:t>
            </a:r>
          </a:p>
        </p:txBody>
      </p:sp>
      <p:sp>
        <p:nvSpPr>
          <p:cNvPr id="3" name="Content Placeholder 2">
            <a:extLst>
              <a:ext uri="{FF2B5EF4-FFF2-40B4-BE49-F238E27FC236}">
                <a16:creationId xmlns:a16="http://schemas.microsoft.com/office/drawing/2014/main" id="{10FA43FD-B9D9-55E5-9442-562BF8CD9543}"/>
              </a:ext>
            </a:extLst>
          </p:cNvPr>
          <p:cNvSpPr>
            <a:spLocks noGrp="1"/>
          </p:cNvSpPr>
          <p:nvPr>
            <p:ph idx="1"/>
          </p:nvPr>
        </p:nvSpPr>
        <p:spPr/>
        <p:txBody>
          <a:bodyPr/>
          <a:lstStyle/>
          <a:p>
            <a:r>
              <a:rPr lang="en-US" dirty="0"/>
              <a:t>Crime perception drives real estate values, business investment, and resident retention. Actual incident-level data surfaces ground truth vs. perception.</a:t>
            </a:r>
          </a:p>
          <a:p>
            <a:r>
              <a:rPr lang="en-US" dirty="0"/>
              <a:t>Neighborhood-level crime trends over time are one of the most-requested signals for relocation or investment decisions in St. Louis specifically.</a:t>
            </a:r>
          </a:p>
          <a:p>
            <a:r>
              <a:rPr lang="en-US" dirty="0"/>
              <a:t>Enables apples-to-apples comparison across all 79 neighborhoods rather than relying on cherry-picked headlines.</a:t>
            </a:r>
          </a:p>
          <a:p>
            <a:endParaRPr lang="en-US" dirty="0"/>
          </a:p>
        </p:txBody>
      </p:sp>
    </p:spTree>
    <p:extLst>
      <p:ext uri="{BB962C8B-B14F-4D97-AF65-F5344CB8AC3E}">
        <p14:creationId xmlns:p14="http://schemas.microsoft.com/office/powerpoint/2010/main" val="135509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E11E3-3FEF-2C1C-5C4E-B62C212F0DFA}"/>
              </a:ext>
            </a:extLst>
          </p:cNvPr>
          <p:cNvSpPr>
            <a:spLocks noGrp="1"/>
          </p:cNvSpPr>
          <p:nvPr>
            <p:ph type="title"/>
          </p:nvPr>
        </p:nvSpPr>
        <p:spPr/>
        <p:txBody>
          <a:bodyPr/>
          <a:lstStyle/>
          <a:p>
            <a:r>
              <a:rPr lang="en-US" dirty="0"/>
              <a:t>Census</a:t>
            </a:r>
          </a:p>
        </p:txBody>
      </p:sp>
      <p:sp>
        <p:nvSpPr>
          <p:cNvPr id="3" name="Content Placeholder 2">
            <a:extLst>
              <a:ext uri="{FF2B5EF4-FFF2-40B4-BE49-F238E27FC236}">
                <a16:creationId xmlns:a16="http://schemas.microsoft.com/office/drawing/2014/main" id="{59E3EBF3-6BE3-AF38-3BF1-D0030A497CD8}"/>
              </a:ext>
            </a:extLst>
          </p:cNvPr>
          <p:cNvSpPr>
            <a:spLocks noGrp="1"/>
          </p:cNvSpPr>
          <p:nvPr>
            <p:ph idx="1"/>
          </p:nvPr>
        </p:nvSpPr>
        <p:spPr/>
        <p:txBody>
          <a:bodyPr/>
          <a:lstStyle/>
          <a:p>
            <a:r>
              <a:rPr lang="en-US" dirty="0"/>
              <a:t>Provides the socioeconomic context that makes every other signal interpretable. A high crime count means something different in a dense neighborhood of 20,000 vs. a sparse one of 2,000.</a:t>
            </a:r>
          </a:p>
          <a:p>
            <a:r>
              <a:rPr lang="en-US" dirty="0"/>
              <a:t>Income levels, housing cost burden, and commute patterns reveal whether a neighborhood is affordable in practice, not just on a listing price.</a:t>
            </a:r>
          </a:p>
          <a:p>
            <a:r>
              <a:rPr lang="en-US" dirty="0"/>
              <a:t>Required for any equity analysis (i.e., identifying which neighborhoods are underserved relative to their population).</a:t>
            </a:r>
          </a:p>
          <a:p>
            <a:endParaRPr lang="en-US" dirty="0"/>
          </a:p>
        </p:txBody>
      </p:sp>
    </p:spTree>
    <p:extLst>
      <p:ext uri="{BB962C8B-B14F-4D97-AF65-F5344CB8AC3E}">
        <p14:creationId xmlns:p14="http://schemas.microsoft.com/office/powerpoint/2010/main" val="3014179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BFDE8-2FA3-83E5-790D-A23B523B5DD7}"/>
              </a:ext>
            </a:extLst>
          </p:cNvPr>
          <p:cNvSpPr>
            <a:spLocks noGrp="1"/>
          </p:cNvSpPr>
          <p:nvPr>
            <p:ph type="title"/>
          </p:nvPr>
        </p:nvSpPr>
        <p:spPr/>
        <p:txBody>
          <a:bodyPr/>
          <a:lstStyle/>
          <a:p>
            <a:r>
              <a:rPr lang="en-US" dirty="0"/>
              <a:t>Real Estate Data</a:t>
            </a:r>
          </a:p>
        </p:txBody>
      </p:sp>
      <p:sp>
        <p:nvSpPr>
          <p:cNvPr id="3" name="Content Placeholder 2">
            <a:extLst>
              <a:ext uri="{FF2B5EF4-FFF2-40B4-BE49-F238E27FC236}">
                <a16:creationId xmlns:a16="http://schemas.microsoft.com/office/drawing/2014/main" id="{A5B0A948-7EA1-CE90-9AE1-33DA91D29065}"/>
              </a:ext>
            </a:extLst>
          </p:cNvPr>
          <p:cNvSpPr>
            <a:spLocks noGrp="1"/>
          </p:cNvSpPr>
          <p:nvPr>
            <p:ph idx="1"/>
          </p:nvPr>
        </p:nvSpPr>
        <p:spPr/>
        <p:txBody>
          <a:bodyPr/>
          <a:lstStyle/>
          <a:p>
            <a:r>
              <a:rPr lang="en-US" dirty="0"/>
              <a:t>Property values and rental rates are the market's aggregate signal of how everything else is going in a neighborhood. They reflect crime, schools, transit, and amenities all at once.</a:t>
            </a:r>
          </a:p>
          <a:p>
            <a:r>
              <a:rPr lang="en-US" dirty="0"/>
              <a:t>Sale price trends over time reveal whether a neighborhood is appreciating, declining, or stabilizing.</a:t>
            </a:r>
          </a:p>
          <a:p>
            <a:r>
              <a:rPr lang="en-US" dirty="0"/>
              <a:t>Pairing real estate data with other sources lets you explain why values are moving, not just that they are.</a:t>
            </a:r>
          </a:p>
          <a:p>
            <a:endParaRPr lang="en-US" dirty="0"/>
          </a:p>
        </p:txBody>
      </p:sp>
    </p:spTree>
    <p:extLst>
      <p:ext uri="{BB962C8B-B14F-4D97-AF65-F5344CB8AC3E}">
        <p14:creationId xmlns:p14="http://schemas.microsoft.com/office/powerpoint/2010/main" val="75836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4100F-A67A-56E7-1382-36E35368D01E}"/>
              </a:ext>
            </a:extLst>
          </p:cNvPr>
          <p:cNvSpPr>
            <a:spLocks noGrp="1"/>
          </p:cNvSpPr>
          <p:nvPr>
            <p:ph type="title"/>
          </p:nvPr>
        </p:nvSpPr>
        <p:spPr/>
        <p:txBody>
          <a:bodyPr/>
          <a:lstStyle/>
          <a:p>
            <a:r>
              <a:rPr lang="en-US" dirty="0"/>
              <a:t>City Parcel Data</a:t>
            </a:r>
          </a:p>
        </p:txBody>
      </p:sp>
      <p:sp>
        <p:nvSpPr>
          <p:cNvPr id="3" name="Content Placeholder 2">
            <a:extLst>
              <a:ext uri="{FF2B5EF4-FFF2-40B4-BE49-F238E27FC236}">
                <a16:creationId xmlns:a16="http://schemas.microsoft.com/office/drawing/2014/main" id="{582EB9BE-3526-FAAA-56EC-644ECDAA744D}"/>
              </a:ext>
            </a:extLst>
          </p:cNvPr>
          <p:cNvSpPr>
            <a:spLocks noGrp="1"/>
          </p:cNvSpPr>
          <p:nvPr>
            <p:ph idx="1"/>
          </p:nvPr>
        </p:nvSpPr>
        <p:spPr/>
        <p:txBody>
          <a:bodyPr/>
          <a:lstStyle/>
          <a:p>
            <a:pPr marL="342900" indent="-342900">
              <a:lnSpc>
                <a:spcPct val="115000"/>
              </a:lnSpc>
              <a:buSzPct val="100000"/>
            </a:pPr>
            <a:r>
              <a:rPr lang="en-US" dirty="0">
                <a:solidFill>
                  <a:srgbClr val="222222"/>
                </a:solidFill>
                <a:latin typeface="Calibri" pitchFamily="34" charset="0"/>
                <a:ea typeface="Calibri" pitchFamily="34" charset="-122"/>
                <a:cs typeface="Calibri" pitchFamily="34" charset="-120"/>
              </a:rPr>
              <a:t>Vacancy and abandonment rates are a leading indicator of neighborhood disinvestment. St. Louis has significant blocks of vacant parcels that don't show up in other data sources.</a:t>
            </a:r>
            <a:endParaRPr lang="en-US" dirty="0"/>
          </a:p>
          <a:p>
            <a:pPr marL="342900" indent="-342900">
              <a:lnSpc>
                <a:spcPct val="115000"/>
              </a:lnSpc>
              <a:buSzPct val="100000"/>
            </a:pPr>
            <a:r>
              <a:rPr lang="en-US" dirty="0">
                <a:solidFill>
                  <a:srgbClr val="222222"/>
                </a:solidFill>
                <a:latin typeface="Calibri" pitchFamily="34" charset="0"/>
                <a:ea typeface="Calibri" pitchFamily="34" charset="-122"/>
                <a:cs typeface="Calibri" pitchFamily="34" charset="-120"/>
              </a:rPr>
              <a:t>Building permits signal where private investment is flowing, which often precedes price changes in the real estate layer.</a:t>
            </a:r>
            <a:endParaRPr lang="en-US" dirty="0"/>
          </a:p>
          <a:p>
            <a:pPr marL="342900" indent="-342900">
              <a:lnSpc>
                <a:spcPct val="115000"/>
              </a:lnSpc>
              <a:buSzPct val="100000"/>
            </a:pPr>
            <a:r>
              <a:rPr lang="en-US" dirty="0">
                <a:solidFill>
                  <a:srgbClr val="222222"/>
                </a:solidFill>
                <a:latin typeface="Calibri" pitchFamily="34" charset="0"/>
                <a:ea typeface="Calibri" pitchFamily="34" charset="-122"/>
                <a:cs typeface="Calibri" pitchFamily="34" charset="-120"/>
              </a:rPr>
              <a:t>Ownership records reveal patterns of absentee landlordism and tax delinquency that are otherwise invisible.</a:t>
            </a:r>
            <a:endParaRPr lang="en-US" dirty="0"/>
          </a:p>
          <a:p>
            <a:endParaRPr lang="en-US" dirty="0"/>
          </a:p>
        </p:txBody>
      </p:sp>
    </p:spTree>
    <p:extLst>
      <p:ext uri="{BB962C8B-B14F-4D97-AF65-F5344CB8AC3E}">
        <p14:creationId xmlns:p14="http://schemas.microsoft.com/office/powerpoint/2010/main" val="3709609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90090-F21D-9FD3-AEBC-2952B228B83B}"/>
              </a:ext>
            </a:extLst>
          </p:cNvPr>
          <p:cNvSpPr>
            <a:spLocks noGrp="1"/>
          </p:cNvSpPr>
          <p:nvPr>
            <p:ph type="title"/>
          </p:nvPr>
        </p:nvSpPr>
        <p:spPr/>
        <p:txBody>
          <a:bodyPr/>
          <a:lstStyle/>
          <a:p>
            <a:r>
              <a:rPr lang="en-US" dirty="0"/>
              <a:t>Geographic Data (Flood Plains / Sinkholes)</a:t>
            </a:r>
          </a:p>
        </p:txBody>
      </p:sp>
      <p:sp>
        <p:nvSpPr>
          <p:cNvPr id="3" name="Content Placeholder 2">
            <a:extLst>
              <a:ext uri="{FF2B5EF4-FFF2-40B4-BE49-F238E27FC236}">
                <a16:creationId xmlns:a16="http://schemas.microsoft.com/office/drawing/2014/main" id="{60D27B96-25F9-214A-EAC2-89079DF10E7E}"/>
              </a:ext>
            </a:extLst>
          </p:cNvPr>
          <p:cNvSpPr>
            <a:spLocks noGrp="1"/>
          </p:cNvSpPr>
          <p:nvPr>
            <p:ph idx="1"/>
          </p:nvPr>
        </p:nvSpPr>
        <p:spPr/>
        <p:txBody>
          <a:bodyPr/>
          <a:lstStyle/>
          <a:p>
            <a:r>
              <a:rPr lang="en-US" dirty="0"/>
              <a:t>St. Louis has documented sinkhole activity in areas underlain by old mine tunnels and karst geology, genuine property risk that doesn't appear in any other source.</a:t>
            </a:r>
          </a:p>
          <a:p>
            <a:r>
              <a:rPr lang="en-US" dirty="0"/>
              <a:t>FEMA flood plain designations directly affect insurance costs, mortgage eligibility, and long-term habitability.</a:t>
            </a:r>
          </a:p>
          <a:p>
            <a:r>
              <a:rPr lang="en-US" dirty="0"/>
              <a:t>Layering these with parcel data reveals which properties carry hidden physical risk that listing prices may not yet reflect.</a:t>
            </a:r>
          </a:p>
          <a:p>
            <a:endParaRPr lang="en-US" dirty="0"/>
          </a:p>
        </p:txBody>
      </p:sp>
    </p:spTree>
    <p:extLst>
      <p:ext uri="{BB962C8B-B14F-4D97-AF65-F5344CB8AC3E}">
        <p14:creationId xmlns:p14="http://schemas.microsoft.com/office/powerpoint/2010/main" val="2966850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FFB9C-DB48-F355-DA1A-034A8BDAD7F2}"/>
              </a:ext>
            </a:extLst>
          </p:cNvPr>
          <p:cNvSpPr>
            <a:spLocks noGrp="1"/>
          </p:cNvSpPr>
          <p:nvPr>
            <p:ph type="title"/>
          </p:nvPr>
        </p:nvSpPr>
        <p:spPr/>
        <p:txBody>
          <a:bodyPr/>
          <a:lstStyle/>
          <a:p>
            <a:r>
              <a:rPr lang="en-US" dirty="0"/>
              <a:t>Insurance Rate Data</a:t>
            </a:r>
          </a:p>
        </p:txBody>
      </p:sp>
      <p:sp>
        <p:nvSpPr>
          <p:cNvPr id="3" name="Content Placeholder 2">
            <a:extLst>
              <a:ext uri="{FF2B5EF4-FFF2-40B4-BE49-F238E27FC236}">
                <a16:creationId xmlns:a16="http://schemas.microsoft.com/office/drawing/2014/main" id="{70A8A077-18B7-92FC-988E-4607DAEF9922}"/>
              </a:ext>
            </a:extLst>
          </p:cNvPr>
          <p:cNvSpPr>
            <a:spLocks noGrp="1"/>
          </p:cNvSpPr>
          <p:nvPr>
            <p:ph idx="1"/>
          </p:nvPr>
        </p:nvSpPr>
        <p:spPr/>
        <p:txBody>
          <a:bodyPr/>
          <a:lstStyle/>
          <a:p>
            <a:r>
              <a:rPr lang="en-US" dirty="0"/>
              <a:t>Insurance costs are a hidden dimension of affordability. A home that looks affordable on purchase price can become cost-burdened once flood, home, or auto insurance is factored in.</a:t>
            </a:r>
          </a:p>
          <a:p>
            <a:r>
              <a:rPr lang="en-US" dirty="0"/>
              <a:t>Rate variations across zip codes reflect insurers' aggregate risk assessment, synthesizing crime, weather, infrastructure age, and geographic hazard into a single financial signal.</a:t>
            </a:r>
          </a:p>
          <a:p>
            <a:r>
              <a:rPr lang="en-US" dirty="0"/>
              <a:t>Translates risk signals into the dollar figure a household actually has to budget for, making the platform directly actionable.</a:t>
            </a:r>
          </a:p>
          <a:p>
            <a:endParaRPr lang="en-US" dirty="0"/>
          </a:p>
        </p:txBody>
      </p:sp>
    </p:spTree>
    <p:extLst>
      <p:ext uri="{BB962C8B-B14F-4D97-AF65-F5344CB8AC3E}">
        <p14:creationId xmlns:p14="http://schemas.microsoft.com/office/powerpoint/2010/main" val="238683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4B6F-4644-9B0D-DF5B-152B507F9DB7}"/>
              </a:ext>
            </a:extLst>
          </p:cNvPr>
          <p:cNvSpPr>
            <a:spLocks noGrp="1"/>
          </p:cNvSpPr>
          <p:nvPr>
            <p:ph type="title"/>
          </p:nvPr>
        </p:nvSpPr>
        <p:spPr/>
        <p:txBody>
          <a:bodyPr/>
          <a:lstStyle/>
          <a:p>
            <a:r>
              <a:rPr lang="en-US" dirty="0"/>
              <a:t>School System Data</a:t>
            </a:r>
          </a:p>
        </p:txBody>
      </p:sp>
      <p:sp>
        <p:nvSpPr>
          <p:cNvPr id="3" name="Content Placeholder 2">
            <a:extLst>
              <a:ext uri="{FF2B5EF4-FFF2-40B4-BE49-F238E27FC236}">
                <a16:creationId xmlns:a16="http://schemas.microsoft.com/office/drawing/2014/main" id="{1F41DBA9-0885-9C5D-5DEF-04C4937E3DE6}"/>
              </a:ext>
            </a:extLst>
          </p:cNvPr>
          <p:cNvSpPr>
            <a:spLocks noGrp="1"/>
          </p:cNvSpPr>
          <p:nvPr>
            <p:ph idx="1"/>
          </p:nvPr>
        </p:nvSpPr>
        <p:spPr/>
        <p:txBody>
          <a:bodyPr/>
          <a:lstStyle/>
          <a:p>
            <a:r>
              <a:rPr lang="en-US" dirty="0"/>
              <a:t>School quality is consistently the top factor cited by families with children in relocation decisions, no neighborhood intelligence platform is complete without it.</a:t>
            </a:r>
          </a:p>
          <a:p>
            <a:r>
              <a:rPr lang="en-US" dirty="0"/>
              <a:t>Graduation rates and student population trends reveal not just current quality but trajectory, which matters more than a single year's snapshot.</a:t>
            </a:r>
          </a:p>
          <a:p>
            <a:r>
              <a:rPr lang="en-US" dirty="0"/>
              <a:t>The public/private mix matters in St. Louis specifically, where charter and private school density varies significantly by neighborhood.</a:t>
            </a:r>
          </a:p>
          <a:p>
            <a:endParaRPr lang="en-US" dirty="0"/>
          </a:p>
        </p:txBody>
      </p:sp>
    </p:spTree>
    <p:extLst>
      <p:ext uri="{BB962C8B-B14F-4D97-AF65-F5344CB8AC3E}">
        <p14:creationId xmlns:p14="http://schemas.microsoft.com/office/powerpoint/2010/main" val="4187971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9CB00-3579-1342-0BD2-7BD92FAA56D1}"/>
              </a:ext>
            </a:extLst>
          </p:cNvPr>
          <p:cNvSpPr>
            <a:spLocks noGrp="1"/>
          </p:cNvSpPr>
          <p:nvPr>
            <p:ph type="title"/>
          </p:nvPr>
        </p:nvSpPr>
        <p:spPr/>
        <p:txBody>
          <a:bodyPr/>
          <a:lstStyle/>
          <a:p>
            <a:r>
              <a:rPr lang="en-US" dirty="0"/>
              <a:t>Auto-Accident Reports</a:t>
            </a:r>
          </a:p>
        </p:txBody>
      </p:sp>
      <p:sp>
        <p:nvSpPr>
          <p:cNvPr id="3" name="Content Placeholder 2">
            <a:extLst>
              <a:ext uri="{FF2B5EF4-FFF2-40B4-BE49-F238E27FC236}">
                <a16:creationId xmlns:a16="http://schemas.microsoft.com/office/drawing/2014/main" id="{87F4162D-DE79-21B6-0A16-D94CC5F8F973}"/>
              </a:ext>
            </a:extLst>
          </p:cNvPr>
          <p:cNvSpPr>
            <a:spLocks noGrp="1"/>
          </p:cNvSpPr>
          <p:nvPr>
            <p:ph idx="1"/>
          </p:nvPr>
        </p:nvSpPr>
        <p:spPr/>
        <p:txBody>
          <a:bodyPr/>
          <a:lstStyle/>
          <a:p>
            <a:r>
              <a:rPr lang="en-US" dirty="0"/>
              <a:t>Accident frequency by intersection is a direct measure of street safety and is extremely relevant for families, cyclists, runners and walkability assessments that transit scores alone don't capture.</a:t>
            </a:r>
          </a:p>
          <a:p>
            <a:r>
              <a:rPr lang="en-US" dirty="0"/>
              <a:t>High-accident corridors correlate with infrastructure underinvestment and help explain patterns in ridership, business location, and residential desirability.</a:t>
            </a:r>
          </a:p>
          <a:p>
            <a:r>
              <a:rPr lang="en-US" dirty="0"/>
              <a:t>Pairing accident data with real estate data can surface neighborhoods where street safety is suppressing otherwise strong foundations.</a:t>
            </a:r>
          </a:p>
          <a:p>
            <a:endParaRPr lang="en-US" dirty="0"/>
          </a:p>
        </p:txBody>
      </p:sp>
    </p:spTree>
    <p:extLst>
      <p:ext uri="{BB962C8B-B14F-4D97-AF65-F5344CB8AC3E}">
        <p14:creationId xmlns:p14="http://schemas.microsoft.com/office/powerpoint/2010/main" val="2740434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4D1C5-E649-26EB-529B-B63735366AE3}"/>
              </a:ext>
            </a:extLst>
          </p:cNvPr>
          <p:cNvSpPr>
            <a:spLocks noGrp="1"/>
          </p:cNvSpPr>
          <p:nvPr>
            <p:ph type="title"/>
          </p:nvPr>
        </p:nvSpPr>
        <p:spPr/>
        <p:txBody>
          <a:bodyPr/>
          <a:lstStyle/>
          <a:p>
            <a:r>
              <a:rPr lang="en-US" dirty="0"/>
              <a:t>Challenges, Teamwork, </a:t>
            </a:r>
            <a:br>
              <a:rPr lang="en-US" dirty="0"/>
            </a:br>
            <a:r>
              <a:rPr lang="en-US" dirty="0"/>
              <a:t>&amp; DE Alignment</a:t>
            </a:r>
          </a:p>
        </p:txBody>
      </p:sp>
    </p:spTree>
    <p:extLst>
      <p:ext uri="{BB962C8B-B14F-4D97-AF65-F5344CB8AC3E}">
        <p14:creationId xmlns:p14="http://schemas.microsoft.com/office/powerpoint/2010/main" val="1726610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A270E-6094-7517-4C3E-D940AA5F95BF}"/>
              </a:ext>
            </a:extLst>
          </p:cNvPr>
          <p:cNvSpPr>
            <a:spLocks noGrp="1"/>
          </p:cNvSpPr>
          <p:nvPr>
            <p:ph type="title"/>
          </p:nvPr>
        </p:nvSpPr>
        <p:spPr/>
        <p:txBody>
          <a:bodyPr/>
          <a:lstStyle/>
          <a:p>
            <a:r>
              <a:rPr lang="en-US" dirty="0"/>
              <a:t>Key Challenges	</a:t>
            </a:r>
          </a:p>
        </p:txBody>
      </p:sp>
      <p:sp>
        <p:nvSpPr>
          <p:cNvPr id="3" name="Content Placeholder 2">
            <a:extLst>
              <a:ext uri="{FF2B5EF4-FFF2-40B4-BE49-F238E27FC236}">
                <a16:creationId xmlns:a16="http://schemas.microsoft.com/office/drawing/2014/main" id="{AA7ADEA0-FC4C-256D-FF3E-51F05CEC2E2A}"/>
              </a:ext>
            </a:extLst>
          </p:cNvPr>
          <p:cNvSpPr>
            <a:spLocks noGrp="1"/>
          </p:cNvSpPr>
          <p:nvPr>
            <p:ph idx="1"/>
          </p:nvPr>
        </p:nvSpPr>
        <p:spPr/>
        <p:txBody>
          <a:bodyPr>
            <a:normAutofit fontScale="77500" lnSpcReduction="20000"/>
          </a:bodyPr>
          <a:lstStyle/>
          <a:p>
            <a:r>
              <a:rPr lang="en-US" dirty="0"/>
              <a:t>Cross-Jurisdictional Geography</a:t>
            </a:r>
          </a:p>
          <a:p>
            <a:pPr lvl="1"/>
            <a:r>
              <a:rPr lang="en-US" dirty="0"/>
              <a:t>St. Louis City and County are entirely separate entities, an unusual arrangement. City wards, county municipalities, census tracts, and neighborhood boundaries must all be reconciled to a single spatial model. </a:t>
            </a:r>
          </a:p>
          <a:p>
            <a:r>
              <a:rPr lang="en-US" dirty="0"/>
              <a:t>SLMPD Data Quality Gaps</a:t>
            </a:r>
          </a:p>
          <a:p>
            <a:pPr lvl="1"/>
            <a:r>
              <a:rPr lang="en-US" dirty="0"/>
              <a:t>Local journalists have documented periods where SLMPD incident data was delayed or inconsistent due to records management system changes. The pipeline we create pipeline must detect and flag temporal gaps rather than silently producing misleading aggregations.</a:t>
            </a:r>
          </a:p>
          <a:p>
            <a:r>
              <a:rPr lang="en-US" dirty="0"/>
              <a:t>Real-Time vs. Batch Infrastructure</a:t>
            </a:r>
          </a:p>
          <a:p>
            <a:pPr lvl="1"/>
            <a:r>
              <a:rPr lang="en-US" dirty="0"/>
              <a:t>Some data sources update every few seconds while others only once a month. We may need to look at creating a “snapshot” of more rapidly refreshing sources. </a:t>
            </a:r>
          </a:p>
          <a:p>
            <a:r>
              <a:rPr lang="en-US" dirty="0"/>
              <a:t>Team Cohesion/Coordination</a:t>
            </a:r>
          </a:p>
          <a:p>
            <a:pPr lvl="1"/>
            <a:r>
              <a:rPr lang="en-US" dirty="0"/>
              <a:t>Because this project would require multiple parallel workstreams, the team needs to agree on a starting schema and continue to work on individual pipelines in a cooperative nature along the way rather than simply completing their portion. There will be adjustments and revisions needed constantly. Regular meetings discussion status and challenges will be needed to keep the work moving as agile as possible. </a:t>
            </a:r>
          </a:p>
          <a:p>
            <a:endParaRPr lang="en-US" dirty="0"/>
          </a:p>
        </p:txBody>
      </p:sp>
    </p:spTree>
    <p:extLst>
      <p:ext uri="{BB962C8B-B14F-4D97-AF65-F5344CB8AC3E}">
        <p14:creationId xmlns:p14="http://schemas.microsoft.com/office/powerpoint/2010/main" val="2901752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BE524-5A88-2EC0-6D8B-A1E5C1F4937F}"/>
              </a:ext>
            </a:extLst>
          </p:cNvPr>
          <p:cNvSpPr>
            <a:spLocks noGrp="1"/>
          </p:cNvSpPr>
          <p:nvPr>
            <p:ph type="title"/>
          </p:nvPr>
        </p:nvSpPr>
        <p:spPr/>
        <p:txBody>
          <a:bodyPr/>
          <a:lstStyle/>
          <a:p>
            <a:r>
              <a:rPr lang="en-US" dirty="0"/>
              <a:t>Teamwork makes the Dream Work</a:t>
            </a:r>
          </a:p>
        </p:txBody>
      </p:sp>
      <p:sp>
        <p:nvSpPr>
          <p:cNvPr id="3" name="Content Placeholder 2">
            <a:extLst>
              <a:ext uri="{FF2B5EF4-FFF2-40B4-BE49-F238E27FC236}">
                <a16:creationId xmlns:a16="http://schemas.microsoft.com/office/drawing/2014/main" id="{841EAC78-EF33-0B0F-F4A2-3DAE900BE628}"/>
              </a:ext>
            </a:extLst>
          </p:cNvPr>
          <p:cNvSpPr>
            <a:spLocks noGrp="1"/>
          </p:cNvSpPr>
          <p:nvPr>
            <p:ph idx="1"/>
          </p:nvPr>
        </p:nvSpPr>
        <p:spPr/>
        <p:txBody>
          <a:bodyPr>
            <a:normAutofit fontScale="70000" lnSpcReduction="20000"/>
          </a:bodyPr>
          <a:lstStyle/>
          <a:p>
            <a:r>
              <a:rPr lang="en-US" dirty="0"/>
              <a:t>As previously mentioned, the ETL process for each workstream will likely need to be tackled by individual team members. </a:t>
            </a:r>
          </a:p>
          <a:p>
            <a:r>
              <a:rPr lang="en-US" dirty="0"/>
              <a:t>The team will need to meet regularly to understand current status of the individual pipelines and any challenges that are arising. </a:t>
            </a:r>
          </a:p>
          <a:p>
            <a:r>
              <a:rPr lang="en-US" dirty="0"/>
              <a:t>Before any work is done, the team will need to research and understand exactly </a:t>
            </a:r>
            <a:r>
              <a:rPr lang="en-US" b="1" dirty="0"/>
              <a:t>where</a:t>
            </a:r>
            <a:r>
              <a:rPr lang="en-US" dirty="0"/>
              <a:t> all the data will be collected and </a:t>
            </a:r>
            <a:r>
              <a:rPr lang="en-US" b="1" dirty="0"/>
              <a:t>how </a:t>
            </a:r>
            <a:r>
              <a:rPr lang="en-US" dirty="0"/>
              <a:t>it will be collected: API, CSV, Scrapping, etc. </a:t>
            </a:r>
          </a:p>
          <a:p>
            <a:r>
              <a:rPr lang="en-US" dirty="0"/>
              <a:t>The team will also need to map out the potential data model after reviewing the data sources to create an initial schema each member can work towards. This schema will be iterated upon as needed as work continues (see point on regular team meetings). </a:t>
            </a:r>
          </a:p>
          <a:p>
            <a:r>
              <a:rPr lang="en-US" dirty="0"/>
              <a:t>Created pipelines will be reviewed by other team members once ready to cover off any potential gaps in the initial build. </a:t>
            </a:r>
          </a:p>
          <a:p>
            <a:r>
              <a:rPr lang="en-US" dirty="0"/>
              <a:t>Once final schema and ready, all team members will stress test by asking different questions and trying to find the answer either by connecting to a visualization software to build out a report, or by manually pulling the data via SQL / Python code directly in the IDE. </a:t>
            </a:r>
          </a:p>
        </p:txBody>
      </p:sp>
    </p:spTree>
    <p:extLst>
      <p:ext uri="{BB962C8B-B14F-4D97-AF65-F5344CB8AC3E}">
        <p14:creationId xmlns:p14="http://schemas.microsoft.com/office/powerpoint/2010/main" val="4196706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DF0C1-8CC4-A183-1607-7BD717C56D60}"/>
              </a:ext>
            </a:extLst>
          </p:cNvPr>
          <p:cNvSpPr>
            <a:spLocks noGrp="1"/>
          </p:cNvSpPr>
          <p:nvPr>
            <p:ph type="title"/>
          </p:nvPr>
        </p:nvSpPr>
        <p:spPr/>
        <p:txBody>
          <a:bodyPr/>
          <a:lstStyle/>
          <a:p>
            <a:r>
              <a:rPr lang="en-US" dirty="0"/>
              <a:t>DE Lifecycle Alignment</a:t>
            </a:r>
          </a:p>
        </p:txBody>
      </p:sp>
      <p:sp>
        <p:nvSpPr>
          <p:cNvPr id="3" name="Content Placeholder 2">
            <a:extLst>
              <a:ext uri="{FF2B5EF4-FFF2-40B4-BE49-F238E27FC236}">
                <a16:creationId xmlns:a16="http://schemas.microsoft.com/office/drawing/2014/main" id="{0E4D2BF6-5A59-3E67-0FF4-69DE0A526A5D}"/>
              </a:ext>
            </a:extLst>
          </p:cNvPr>
          <p:cNvSpPr>
            <a:spLocks noGrp="1"/>
          </p:cNvSpPr>
          <p:nvPr>
            <p:ph idx="1"/>
          </p:nvPr>
        </p:nvSpPr>
        <p:spPr/>
        <p:txBody>
          <a:bodyPr>
            <a:normAutofit fontScale="55000" lnSpcReduction="20000"/>
          </a:bodyPr>
          <a:lstStyle/>
          <a:p>
            <a:r>
              <a:rPr lang="en-US" dirty="0"/>
              <a:t>Generation</a:t>
            </a:r>
          </a:p>
          <a:p>
            <a:pPr lvl="1"/>
            <a:r>
              <a:rPr lang="en-US" dirty="0"/>
              <a:t>Metro operations, SLMPD incident reporting, city permit workflows, and passive Census surveys all continuously produce data at different cadences.</a:t>
            </a:r>
          </a:p>
          <a:p>
            <a:r>
              <a:rPr lang="en-US" dirty="0"/>
              <a:t>Ingestion</a:t>
            </a:r>
          </a:p>
          <a:p>
            <a:pPr lvl="1"/>
            <a:r>
              <a:rPr lang="en-US" dirty="0"/>
              <a:t>Multiple different patterns ranging from statis batch, real-time poll, monthly CSV, bulk data exports, API calls, (potential) web scrapping. </a:t>
            </a:r>
          </a:p>
          <a:p>
            <a:r>
              <a:rPr lang="en-US" dirty="0"/>
              <a:t>Transformation</a:t>
            </a:r>
          </a:p>
          <a:p>
            <a:pPr lvl="1"/>
            <a:r>
              <a:rPr lang="en-US" dirty="0"/>
              <a:t>Spatial reconciliation of wards → census tracts → neighborhood polygons. Deduplication of city parcel records, connection to real estate data, connection to natural event data. Overall, this will be the heaviest lift.</a:t>
            </a:r>
          </a:p>
          <a:p>
            <a:r>
              <a:rPr lang="en-US" dirty="0"/>
              <a:t>Storage</a:t>
            </a:r>
          </a:p>
          <a:p>
            <a:pPr lvl="1"/>
            <a:r>
              <a:rPr lang="en-US" dirty="0"/>
              <a:t>Where do we store, how heavy is the weight of the data, can we store in the cloud or locally. </a:t>
            </a:r>
          </a:p>
          <a:p>
            <a:pPr lvl="1"/>
            <a:r>
              <a:rPr lang="en-US" dirty="0"/>
              <a:t>Current storage model thought: raw layer (source as-is), curated layer (validated + standardized), serving layer (unified neighborhood model optimized for query). </a:t>
            </a:r>
          </a:p>
          <a:p>
            <a:r>
              <a:rPr lang="en-US" dirty="0"/>
              <a:t>Serving</a:t>
            </a:r>
          </a:p>
          <a:p>
            <a:pPr lvl="1"/>
            <a:r>
              <a:rPr lang="en-US" dirty="0"/>
              <a:t>Final output: a neighborhood-level analytical model for planners, civic dashboards, or an ML feature store for property valuation.</a:t>
            </a:r>
          </a:p>
          <a:p>
            <a:r>
              <a:rPr lang="en-US" dirty="0"/>
              <a:t>Quality &amp; Obs.</a:t>
            </a:r>
          </a:p>
          <a:p>
            <a:pPr lvl="1"/>
            <a:r>
              <a:rPr lang="en-US" dirty="0"/>
              <a:t>Given SLMPD's known gaps, explicit quality checks like row counts, null rates, temporal gap detection, etc.,  will be a core requirement, not a nice-to-have option. </a:t>
            </a:r>
          </a:p>
        </p:txBody>
      </p:sp>
    </p:spTree>
    <p:extLst>
      <p:ext uri="{BB962C8B-B14F-4D97-AF65-F5344CB8AC3E}">
        <p14:creationId xmlns:p14="http://schemas.microsoft.com/office/powerpoint/2010/main" val="2443197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1439</Words>
  <Application>Microsoft Office PowerPoint</Application>
  <PresentationFormat>Widescreen</PresentationFormat>
  <Paragraphs>88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Calibri</vt:lpstr>
      <vt:lpstr>Office Theme</vt:lpstr>
      <vt:lpstr>STL Neighborhood Intelligence Platform</vt:lpstr>
      <vt:lpstr>Project Overview</vt:lpstr>
      <vt:lpstr>Business Situation</vt:lpstr>
      <vt:lpstr>Relevant Data Sources </vt:lpstr>
      <vt:lpstr>Why these Data Sources are Important</vt:lpstr>
      <vt:lpstr>Metro GTFS Data</vt:lpstr>
      <vt:lpstr>SLMPD Crime Data</vt:lpstr>
      <vt:lpstr>Census</vt:lpstr>
      <vt:lpstr>Real Estate Data</vt:lpstr>
      <vt:lpstr>City Parcel Data</vt:lpstr>
      <vt:lpstr>Geographic Data (Flood Plains / Sinkholes)</vt:lpstr>
      <vt:lpstr>Insurance Rate Data</vt:lpstr>
      <vt:lpstr>School System Data</vt:lpstr>
      <vt:lpstr>Auto-Accident Reports</vt:lpstr>
      <vt:lpstr>Challenges, Teamwork,  &amp; DE Alignment</vt:lpstr>
      <vt:lpstr>Key Challenges </vt:lpstr>
      <vt:lpstr>Teamwork makes the Dream Work</vt:lpstr>
      <vt:lpstr>DE Lifecycle Alignment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Joshua Daugette</dc:creator>
  <cp:lastModifiedBy>Joshua Daugette</cp:lastModifiedBy>
  <cp:revision>1</cp:revision>
  <dcterms:created xsi:type="dcterms:W3CDTF">2026-03-01T17:32:54Z</dcterms:created>
  <dcterms:modified xsi:type="dcterms:W3CDTF">2026-03-01T18:33:07Z</dcterms:modified>
</cp:coreProperties>
</file>